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6" r:id="rId3"/>
    <p:sldId id="257" r:id="rId4"/>
    <p:sldId id="258" r:id="rId5"/>
    <p:sldId id="259" r:id="rId6"/>
    <p:sldId id="261" r:id="rId7"/>
    <p:sldId id="263" r:id="rId8"/>
    <p:sldId id="264" r:id="rId9"/>
    <p:sldId id="265" r:id="rId10"/>
    <p:sldId id="268" r:id="rId11"/>
    <p:sldId id="269" r:id="rId12"/>
    <p:sldId id="273" r:id="rId13"/>
    <p:sldId id="270" r:id="rId14"/>
    <p:sldId id="274" r:id="rId15"/>
    <p:sldId id="275" r:id="rId16"/>
    <p:sldId id="276" r:id="rId17"/>
    <p:sldId id="271" r:id="rId18"/>
    <p:sldId id="272" r:id="rId19"/>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8"/>
        <p:guide pos="3824"/>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760FBDFE-C587-4B4C-A407-44438C67B59E}" type="datetimeFigureOut">
              <a:rPr lang="zh-CN" altLang="en-US" smtClean="0"/>
            </a:fld>
            <a:endParaRPr lang="zh-CN" alt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zh-CN" alt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754370"/>
          </a:xfrm>
          <a:prstGeom prst="rect">
            <a:avLst/>
          </a:prstGeom>
          <a:noFill/>
        </p:spPr>
        <p:txBody>
          <a:bodyPr wrap="square" rtlCol="0">
            <a:spAutoFit/>
          </a:bodyPr>
          <a:p>
            <a:pPr algn="ctr"/>
            <a:r>
              <a:rPr lang="en-US" sz="2400">
                <a:solidFill>
                  <a:schemeClr val="bg1"/>
                </a:solidFill>
              </a:rPr>
              <a:t>MBARARA UNIVERSITY OF SCIENCE AND TECHNOLOGY</a:t>
            </a:r>
            <a:endParaRPr lang="en-US" sz="2400">
              <a:solidFill>
                <a:schemeClr val="bg1"/>
              </a:solidFill>
            </a:endParaRPr>
          </a:p>
          <a:p>
            <a:pPr algn="ctr"/>
            <a:r>
              <a:rPr lang="en-US" sz="2400">
                <a:solidFill>
                  <a:schemeClr val="bg1"/>
                </a:solidFill>
              </a:rPr>
              <a:t>FACULTY OF COMPUTING AND INFORMATICS</a:t>
            </a:r>
            <a:endParaRPr lang="en-US" sz="2400">
              <a:solidFill>
                <a:schemeClr val="bg1"/>
              </a:solidFill>
            </a:endParaRPr>
          </a:p>
          <a:p>
            <a:pPr algn="ctr"/>
            <a:endParaRPr lang="en-US" sz="2400">
              <a:solidFill>
                <a:schemeClr val="bg1"/>
              </a:solidFill>
            </a:endParaRPr>
          </a:p>
          <a:p>
            <a:pPr algn="ctr"/>
            <a:r>
              <a:rPr lang="en-US" sz="2400">
                <a:solidFill>
                  <a:schemeClr val="bg1"/>
                </a:solidFill>
              </a:rPr>
              <a:t>DATABASE MANAGEMENT SYSTEMS</a:t>
            </a:r>
            <a:endParaRPr lang="en-US" sz="2400">
              <a:solidFill>
                <a:schemeClr val="bg1"/>
              </a:solidFill>
            </a:endParaRPr>
          </a:p>
          <a:p>
            <a:pPr algn="ctr"/>
            <a:endParaRPr lang="en-US" sz="2400">
              <a:solidFill>
                <a:schemeClr val="bg1"/>
              </a:solidFill>
            </a:endParaRPr>
          </a:p>
          <a:p>
            <a:pPr algn="ctr"/>
            <a:endParaRPr lang="en-US" sz="2400">
              <a:solidFill>
                <a:schemeClr val="bg1"/>
              </a:solidFill>
            </a:endParaRPr>
          </a:p>
          <a:p>
            <a:pPr algn="ctr"/>
            <a:r>
              <a:rPr lang="en-US" sz="3200" b="1">
                <a:solidFill>
                  <a:schemeClr val="bg1"/>
                </a:solidFill>
              </a:rPr>
              <a:t>TOURISM DESTINATION MANAGEMENT SYSTEM</a:t>
            </a:r>
            <a:endParaRPr lang="en-US" sz="2400" i="1">
              <a:solidFill>
                <a:srgbClr val="FF0000"/>
              </a:solidFill>
              <a:latin typeface="Georgia" panose="02040502050405020303" charset="0"/>
              <a:cs typeface="Georgia" panose="02040502050405020303" charset="0"/>
            </a:endParaRPr>
          </a:p>
          <a:p>
            <a:pPr algn="ctr"/>
            <a:endParaRPr lang="en-US" sz="2400">
              <a:solidFill>
                <a:schemeClr val="bg1"/>
              </a:solidFill>
            </a:endParaRPr>
          </a:p>
          <a:p>
            <a:pPr algn="ctr"/>
            <a:endParaRPr lang="en-US" sz="2400">
              <a:solidFill>
                <a:schemeClr val="bg1"/>
              </a:solidFill>
            </a:endParaRPr>
          </a:p>
          <a:p>
            <a:pPr algn="ctr"/>
            <a:r>
              <a:rPr lang="en-US" sz="2400">
                <a:solidFill>
                  <a:schemeClr val="bg1"/>
                </a:solidFill>
              </a:rPr>
              <a:t>BY</a:t>
            </a:r>
            <a:endParaRPr lang="en-US" sz="2400">
              <a:solidFill>
                <a:schemeClr val="bg1"/>
              </a:solidFill>
            </a:endParaRPr>
          </a:p>
          <a:p>
            <a:pPr algn="ctr"/>
            <a:r>
              <a:rPr lang="en-US" sz="2400">
                <a:solidFill>
                  <a:schemeClr val="bg1"/>
                </a:solidFill>
              </a:rPr>
              <a:t>HILARY AKEBA</a:t>
            </a:r>
            <a:endParaRPr lang="en-US" sz="2400">
              <a:solidFill>
                <a:schemeClr val="bg1"/>
              </a:solidFill>
            </a:endParaRPr>
          </a:p>
          <a:p>
            <a:pPr algn="ctr"/>
            <a:endParaRPr lang="en-US" sz="2400">
              <a:solidFill>
                <a:schemeClr val="bg1"/>
              </a:solidFill>
            </a:endParaRPr>
          </a:p>
          <a:p>
            <a:pPr algn="ctr"/>
            <a:endParaRPr lang="en-US" sz="2400">
              <a:solidFill>
                <a:schemeClr val="bg1"/>
              </a:solidFill>
            </a:endParaRPr>
          </a:p>
          <a:p>
            <a:pPr algn="ctr"/>
            <a:endParaRPr lang="en-US" sz="2400">
              <a:solidFill>
                <a:schemeClr val="bg1"/>
              </a:solidFill>
            </a:endParaRPr>
          </a:p>
          <a:p>
            <a:pPr algn="ctr"/>
            <a:r>
              <a:rPr lang="en-US" sz="2400">
                <a:solidFill>
                  <a:schemeClr val="bg1"/>
                </a:solidFill>
              </a:rPr>
              <a:t>May 2026</a:t>
            </a:r>
            <a:endParaRPr lang="en-US" sz="24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Executive Summary</a:t>
            </a:r>
            <a:endParaRPr lang="en-US" sz="2600" b="1">
              <a:solidFill>
                <a:schemeClr val="bg1"/>
              </a:solidFill>
            </a:endParaRPr>
          </a:p>
          <a:p>
            <a:pPr algn="l"/>
            <a:endParaRPr lang="en-US" sz="1800">
              <a:solidFill>
                <a:schemeClr val="bg1"/>
              </a:solidFill>
            </a:endParaRPr>
          </a:p>
          <a:p>
            <a:pPr algn="l"/>
            <a:r>
              <a:rPr lang="en-US" sz="1800">
                <a:solidFill>
                  <a:schemeClr val="bg1"/>
                </a:solidFill>
              </a:rPr>
              <a:t>The Tourism Destination Management System (TDMS) — Destination Module is developed as part of Group C's project for the Database Management Systems course at Mbarara University of Science and Technology.</a:t>
            </a:r>
            <a:endParaRPr lang="en-US" sz="1800">
              <a:solidFill>
                <a:schemeClr val="bg1"/>
              </a:solidFill>
            </a:endParaRPr>
          </a:p>
          <a:p>
            <a:pPr algn="l"/>
            <a:endParaRPr lang="en-US" sz="1800">
              <a:solidFill>
                <a:schemeClr val="bg1"/>
              </a:solidFill>
            </a:endParaRPr>
          </a:p>
          <a:p>
            <a:pPr algn="l"/>
            <a:r>
              <a:rPr lang="en-US" sz="1800">
                <a:solidFill>
                  <a:schemeClr val="bg1"/>
                </a:solidFill>
              </a:rPr>
              <a:t>The system is built on MySQL 8.0 and manages tourism destinations in Uganda, including national parks, lakes, cultural heritage sites, and urban attractions. It enables tourism operators, travel agents, and tourists to browse destinations and discover activities.</a:t>
            </a:r>
            <a:endParaRPr lang="en-US" sz="1800">
              <a:solidFill>
                <a:schemeClr val="bg1"/>
              </a:solidFill>
            </a:endParaRPr>
          </a:p>
          <a:p>
            <a:pPr algn="l"/>
            <a:endParaRPr lang="en-US" sz="1800">
              <a:solidFill>
                <a:schemeClr val="bg1"/>
              </a:solidFill>
            </a:endParaRPr>
          </a:p>
          <a:p>
            <a:pPr algn="l"/>
            <a:r>
              <a:rPr lang="en-US" sz="1800">
                <a:solidFill>
                  <a:schemeClr val="bg1"/>
                </a:solidFill>
              </a:rPr>
              <a:t>The database comprises five core entities: DestinationCategory, Destination, Activity, Tourist, and Booking. The design follows Third Normal Form (3NF) and includes full referential integrity, ENUM-enforced constraints, soft-delete patterns, and UTF-8 multilingual support for local Ugandan language names.</a:t>
            </a:r>
            <a:endParaRPr lang="en-US" sz="1800">
              <a:solidFill>
                <a:schemeClr val="bg1"/>
              </a:solidFill>
            </a:endParaRPr>
          </a:p>
          <a:p>
            <a:pPr algn="l"/>
            <a:endParaRPr lang="en-US" sz="1800">
              <a:solidFill>
                <a:schemeClr val="bg1"/>
              </a:solidFill>
            </a:endParaRPr>
          </a:p>
          <a:p>
            <a:pPr algn="l"/>
            <a:r>
              <a:rPr lang="en-US" sz="1800">
                <a:solidFill>
                  <a:schemeClr val="bg1"/>
                </a:solidFill>
              </a:rPr>
              <a:t>Sample data drawn from Uganda's iconic tourism sites — Bwindi Impenetrable National Park, Murchison Falls, Lake Bunyonyi, Queen Elizabeth National Park, and Kampala — demonstrates real-world applicability.</a:t>
            </a:r>
            <a:endParaRPr lang="en-US" sz="180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Business Case</a:t>
            </a:r>
            <a:endParaRPr lang="en-US" sz="2600" b="1">
              <a:solidFill>
                <a:schemeClr val="bg1"/>
              </a:solidFill>
            </a:endParaRPr>
          </a:p>
          <a:p>
            <a:pPr algn="l"/>
            <a:endParaRPr lang="en-US" sz="1800">
              <a:solidFill>
                <a:schemeClr val="bg1"/>
              </a:solidFill>
            </a:endParaRPr>
          </a:p>
          <a:p>
            <a:pPr algn="l"/>
            <a:r>
              <a:rPr lang="en-US" sz="2000" b="1">
                <a:solidFill>
                  <a:schemeClr val="bg1"/>
                </a:solidFill>
              </a:rPr>
              <a:t>Application Domain</a:t>
            </a:r>
            <a:endParaRPr lang="en-US" sz="2000" b="1">
              <a:solidFill>
                <a:schemeClr val="bg1"/>
              </a:solidFill>
            </a:endParaRPr>
          </a:p>
          <a:p>
            <a:pPr algn="l"/>
            <a:r>
              <a:rPr lang="en-US" sz="1800">
                <a:solidFill>
                  <a:schemeClr val="bg1"/>
                </a:solidFill>
              </a:rPr>
              <a:t>Uganda's tourism sector is a significant contributor to the national economy, attracting visitors to world-class wildlife destinations including Bwindi's mountain gorillas and Murchison Falls. The TDMS serves as the central registry and discovery engine for tourism destinations within the country.</a:t>
            </a:r>
            <a:endParaRPr lang="en-US" sz="1800">
              <a:solidFill>
                <a:schemeClr val="bg1"/>
              </a:solidFill>
            </a:endParaRPr>
          </a:p>
          <a:p>
            <a:pPr algn="l"/>
            <a:endParaRPr lang="en-US" sz="1800">
              <a:solidFill>
                <a:schemeClr val="bg1"/>
              </a:solidFill>
            </a:endParaRPr>
          </a:p>
          <a:p>
            <a:pPr algn="l"/>
            <a:r>
              <a:rPr lang="en-US" sz="1800" b="1">
                <a:solidFill>
                  <a:schemeClr val="bg1"/>
                </a:solidFill>
              </a:rPr>
              <a:t>The system serves three primary user groups:</a:t>
            </a:r>
            <a:endParaRPr lang="en-US" sz="1800" b="1">
              <a:solidFill>
                <a:schemeClr val="bg1"/>
              </a:solidFill>
            </a:endParaRPr>
          </a:p>
          <a:p>
            <a:pPr algn="l"/>
            <a:r>
              <a:rPr lang="en-US" sz="1800">
                <a:solidFill>
                  <a:schemeClr val="bg1"/>
                </a:solidFill>
              </a:rPr>
              <a:t>   Tourism Operators &amp; Travel Agents — who need to manage destination listings and bookings.</a:t>
            </a:r>
            <a:endParaRPr lang="en-US" sz="1800">
              <a:solidFill>
                <a:schemeClr val="bg1"/>
              </a:solidFill>
            </a:endParaRPr>
          </a:p>
          <a:p>
            <a:pPr algn="l"/>
            <a:r>
              <a:rPr lang="en-US" sz="1800">
                <a:solidFill>
                  <a:schemeClr val="bg1"/>
                </a:solidFill>
              </a:rPr>
              <a:t>   Tourists (domestic &amp; international) — who browse destinations.</a:t>
            </a:r>
            <a:endParaRPr lang="en-US" sz="1800">
              <a:solidFill>
                <a:schemeClr val="bg1"/>
              </a:solidFill>
            </a:endParaRPr>
          </a:p>
          <a:p>
            <a:pPr algn="l"/>
            <a:r>
              <a:rPr lang="en-US" sz="1800">
                <a:solidFill>
                  <a:schemeClr val="bg1"/>
                </a:solidFill>
              </a:rPr>
              <a:t>   System Administrators — who maintain data integrity, manage categories, and generate reports.</a:t>
            </a:r>
            <a:endParaRPr lang="en-US" sz="1800">
              <a:solidFill>
                <a:schemeClr val="bg1"/>
              </a:solidFill>
            </a:endParaRPr>
          </a:p>
          <a:p>
            <a:pPr algn="l"/>
            <a:endParaRPr lang="en-US" sz="1800">
              <a:solidFill>
                <a:schemeClr val="bg1"/>
              </a:solidFill>
            </a:endParaRPr>
          </a:p>
          <a:p>
            <a:pPr algn="l"/>
            <a:r>
              <a:rPr lang="en-US" sz="1800">
                <a:solidFill>
                  <a:schemeClr val="bg1"/>
                </a:solidFill>
              </a:rPr>
              <a:t>Supported operations include destination registration and categorisation, activity management and pricing, tourist registration, and booking processing.</a:t>
            </a:r>
            <a:endParaRPr lang="en-US" sz="18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Benefits Analysis</a:t>
            </a:r>
            <a:endParaRPr lang="en-US" sz="2600" b="1">
              <a:solidFill>
                <a:schemeClr val="bg1"/>
              </a:solidFill>
            </a:endParaRPr>
          </a:p>
          <a:p>
            <a:pPr algn="l"/>
            <a:endParaRPr lang="en-US" sz="1800">
              <a:solidFill>
                <a:schemeClr val="bg1"/>
              </a:solidFill>
            </a:endParaRPr>
          </a:p>
          <a:p>
            <a:pPr algn="l"/>
            <a:r>
              <a:rPr lang="en-US" sz="2000" b="1">
                <a:solidFill>
                  <a:schemeClr val="bg1"/>
                </a:solidFill>
              </a:rPr>
              <a:t>Tangible Benefits</a:t>
            </a:r>
            <a:endParaRPr lang="en-US" sz="2000" b="1">
              <a:solidFill>
                <a:schemeClr val="bg1"/>
              </a:solidFill>
            </a:endParaRPr>
          </a:p>
          <a:p>
            <a:pPr algn="l"/>
            <a:r>
              <a:rPr lang="en-US" sz="1800">
                <a:solidFill>
                  <a:schemeClr val="bg1"/>
                </a:solidFill>
              </a:rPr>
              <a:t>   Elimination of manual, paper-based booking records reduces data entry errors and retrieval time.</a:t>
            </a:r>
            <a:endParaRPr lang="en-US" sz="1800">
              <a:solidFill>
                <a:schemeClr val="bg1"/>
              </a:solidFill>
            </a:endParaRPr>
          </a:p>
          <a:p>
            <a:pPr algn="l"/>
            <a:r>
              <a:rPr lang="en-US" sz="1800">
                <a:solidFill>
                  <a:schemeClr val="bg1"/>
                </a:solidFill>
              </a:rPr>
              <a:t>   Centralised destination catalogue enables travel agents to find and quote packages faster.</a:t>
            </a:r>
            <a:endParaRPr lang="en-US" sz="1800">
              <a:solidFill>
                <a:schemeClr val="bg1"/>
              </a:solidFill>
            </a:endParaRPr>
          </a:p>
          <a:p>
            <a:pPr algn="l"/>
            <a:r>
              <a:rPr lang="en-US" sz="1800">
                <a:solidFill>
                  <a:schemeClr val="bg1"/>
                </a:solidFill>
              </a:rPr>
              <a:t>   Analytical queries provide real-time revenue and occupancy data for business decisions.</a:t>
            </a:r>
            <a:endParaRPr lang="en-US" sz="1800">
              <a:solidFill>
                <a:schemeClr val="bg1"/>
              </a:solidFill>
            </a:endParaRPr>
          </a:p>
          <a:p>
            <a:pPr algn="l"/>
            <a:r>
              <a:rPr lang="en-US" sz="1800">
                <a:solidFill>
                  <a:schemeClr val="bg1"/>
                </a:solidFill>
              </a:rPr>
              <a:t>   Unique review per tourist-destination pair ensures authentic feedback, improving package quality.</a:t>
            </a:r>
            <a:endParaRPr lang="en-US" sz="1800">
              <a:solidFill>
                <a:schemeClr val="bg1"/>
              </a:solidFill>
            </a:endParaRPr>
          </a:p>
          <a:p>
            <a:pPr algn="l"/>
            <a:endParaRPr lang="en-US" sz="1800">
              <a:solidFill>
                <a:schemeClr val="bg1"/>
              </a:solidFill>
            </a:endParaRPr>
          </a:p>
          <a:p>
            <a:pPr algn="l"/>
            <a:r>
              <a:rPr lang="en-US" sz="2000" b="1">
                <a:solidFill>
                  <a:schemeClr val="bg1"/>
                </a:solidFill>
              </a:rPr>
              <a:t>Intangible Benefits</a:t>
            </a:r>
            <a:endParaRPr lang="en-US" sz="2000" b="1">
              <a:solidFill>
                <a:schemeClr val="bg1"/>
              </a:solidFill>
            </a:endParaRPr>
          </a:p>
          <a:p>
            <a:pPr algn="l"/>
            <a:r>
              <a:rPr lang="en-US" sz="1800">
                <a:solidFill>
                  <a:schemeClr val="bg1"/>
                </a:solidFill>
              </a:rPr>
              <a:t>   Enhanced tourist experience through structured destination information and transparent pricing.</a:t>
            </a:r>
            <a:endParaRPr lang="en-US" sz="1800">
              <a:solidFill>
                <a:schemeClr val="bg1"/>
              </a:solidFill>
            </a:endParaRPr>
          </a:p>
          <a:p>
            <a:pPr algn="l"/>
            <a:r>
              <a:rPr lang="en-US" sz="1800">
                <a:solidFill>
                  <a:schemeClr val="bg1"/>
                </a:solidFill>
              </a:rPr>
              <a:t>   Preservation of Uganda's cultural tourism data in a multilingual (UTF-8) format.</a:t>
            </a:r>
            <a:endParaRPr lang="en-US" sz="1800">
              <a:solidFill>
                <a:schemeClr val="bg1"/>
              </a:solidFill>
            </a:endParaRPr>
          </a:p>
          <a:p>
            <a:pPr algn="l"/>
            <a:r>
              <a:rPr lang="en-US" sz="1800">
                <a:solidFill>
                  <a:schemeClr val="bg1"/>
                </a:solidFill>
              </a:rPr>
              <a:t>   Improved coordination between tourism sub-modules — payments, hotels, and transport.</a:t>
            </a:r>
            <a:endParaRPr lang="en-US" sz="1800">
              <a:solidFill>
                <a:schemeClr val="bg1"/>
              </a:solidFill>
            </a:endParaRPr>
          </a:p>
          <a:p>
            <a:pPr algn="l"/>
            <a:r>
              <a:rPr lang="en-US" sz="1800">
                <a:solidFill>
                  <a:schemeClr val="bg1"/>
                </a:solidFill>
              </a:rPr>
              <a:t>   Supports Uganda Tourism Board's digital transformation agenda.</a:t>
            </a:r>
            <a:endParaRPr lang="en-US" sz="180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List of Entities</a:t>
            </a:r>
            <a:endParaRPr lang="en-US" sz="2600" b="1">
              <a:solidFill>
                <a:schemeClr val="bg1"/>
              </a:solidFill>
            </a:endParaRPr>
          </a:p>
          <a:p>
            <a:pPr algn="l"/>
            <a:endParaRPr lang="en-US" sz="1800">
              <a:solidFill>
                <a:schemeClr val="bg1"/>
              </a:solidFill>
            </a:endParaRPr>
          </a:p>
          <a:p>
            <a:pPr algn="l"/>
            <a:r>
              <a:rPr lang="en-US" sz="1800">
                <a:solidFill>
                  <a:schemeClr val="bg1"/>
                </a:solidFill>
              </a:rPr>
              <a:t>The Destination Module consists of five core entities. Each entity represents a distinct real-world concept:</a:t>
            </a:r>
            <a:endParaRPr lang="en-US" sz="1800">
              <a:solidFill>
                <a:schemeClr val="bg1"/>
              </a:solidFill>
            </a:endParaRPr>
          </a:p>
          <a:p>
            <a:pPr algn="l"/>
            <a:endParaRPr lang="en-US" sz="1800">
              <a:solidFill>
                <a:schemeClr val="bg1"/>
              </a:solidFill>
            </a:endParaRPr>
          </a:p>
          <a:p>
            <a:pPr algn="l"/>
            <a:r>
              <a:rPr lang="en-US" sz="1800" b="1">
                <a:solidFill>
                  <a:schemeClr val="bg1"/>
                </a:solidFill>
              </a:rPr>
              <a:t>1. DestinationCategory</a:t>
            </a:r>
            <a:endParaRPr lang="en-US" sz="1800" b="1">
              <a:solidFill>
                <a:schemeClr val="bg1"/>
              </a:solidFill>
            </a:endParaRPr>
          </a:p>
          <a:p>
            <a:pPr algn="l"/>
            <a:r>
              <a:rPr lang="en-US" sz="1800">
                <a:solidFill>
                  <a:schemeClr val="bg1"/>
                </a:solidFill>
              </a:rPr>
              <a:t>   Classifies destinations into types such as National Park, Lake, or Urban site. Supports sub-categories through a self-referencing parent_category_id field.</a:t>
            </a:r>
            <a:endParaRPr lang="en-US" sz="1800">
              <a:solidFill>
                <a:schemeClr val="bg1"/>
              </a:solidFill>
            </a:endParaRPr>
          </a:p>
          <a:p>
            <a:pPr algn="l"/>
            <a:endParaRPr lang="en-US" sz="1800">
              <a:solidFill>
                <a:schemeClr val="bg1"/>
              </a:solidFill>
            </a:endParaRPr>
          </a:p>
          <a:p>
            <a:pPr algn="l"/>
            <a:r>
              <a:rPr lang="en-US" sz="1800" b="1">
                <a:solidFill>
                  <a:schemeClr val="bg1"/>
                </a:solidFill>
              </a:rPr>
              <a:t>2. Destination</a:t>
            </a:r>
            <a:endParaRPr lang="en-US" sz="1800" b="1">
              <a:solidFill>
                <a:schemeClr val="bg1"/>
              </a:solidFill>
            </a:endParaRPr>
          </a:p>
          <a:p>
            <a:pPr algn="l"/>
            <a:r>
              <a:rPr lang="en-US" sz="1800">
                <a:solidFill>
                  <a:schemeClr val="bg1"/>
                </a:solidFill>
              </a:rPr>
              <a:t>   The central entity. Represents a specific tourism site in Uganda with location, pricing, and category details.</a:t>
            </a:r>
            <a:endParaRPr lang="en-US" sz="1800">
              <a:solidFill>
                <a:schemeClr val="bg1"/>
              </a:solidFill>
            </a:endParaRPr>
          </a:p>
          <a:p>
            <a:pPr algn="l"/>
            <a:endParaRPr lang="en-US" sz="1800">
              <a:solidFill>
                <a:schemeClr val="bg1"/>
              </a:solidFill>
            </a:endParaRPr>
          </a:p>
          <a:p>
            <a:pPr algn="l"/>
            <a:r>
              <a:rPr lang="en-US" sz="1800" b="1">
                <a:solidFill>
                  <a:schemeClr val="bg1"/>
                </a:solidFill>
              </a:rPr>
              <a:t>3. Activity</a:t>
            </a:r>
            <a:endParaRPr lang="en-US" sz="1800" b="1">
              <a:solidFill>
                <a:schemeClr val="bg1"/>
              </a:solidFill>
            </a:endParaRPr>
          </a:p>
          <a:p>
            <a:pPr algn="l"/>
            <a:r>
              <a:rPr lang="en-US" sz="1800">
                <a:solidFill>
                  <a:schemeClr val="bg1"/>
                </a:solidFill>
              </a:rPr>
              <a:t>   Defines specific offerings at a destination, such as Gorilla Trekking or Game Drive Safari, with type, difficulty, and pricing.</a:t>
            </a:r>
            <a:endParaRPr lang="en-US" sz="1800">
              <a:solidFill>
                <a:schemeClr val="bg1"/>
              </a:solidFill>
            </a:endParaRPr>
          </a:p>
          <a:p>
            <a:pPr algn="l"/>
            <a:endParaRPr lang="en-US" sz="1800">
              <a:solidFill>
                <a:schemeClr val="bg1"/>
              </a:solidFill>
            </a:endParaRPr>
          </a:p>
          <a:p>
            <a:pPr algn="l"/>
            <a:r>
              <a:rPr lang="en-US" sz="1800" b="1">
                <a:solidFill>
                  <a:schemeClr val="bg1"/>
                </a:solidFill>
              </a:rPr>
              <a:t>4. Tourist</a:t>
            </a:r>
            <a:endParaRPr lang="en-US" sz="1800" b="1">
              <a:solidFill>
                <a:schemeClr val="bg1"/>
              </a:solidFill>
            </a:endParaRPr>
          </a:p>
          <a:p>
            <a:pPr algn="l"/>
            <a:r>
              <a:rPr lang="en-US" sz="1800">
                <a:solidFill>
                  <a:schemeClr val="bg1"/>
                </a:solidFill>
              </a:rPr>
              <a:t>   A registered customer who browses destinations and makes bookings.</a:t>
            </a:r>
            <a:endParaRPr lang="en-US" sz="1800">
              <a:solidFill>
                <a:schemeClr val="bg1"/>
              </a:solidFill>
            </a:endParaRPr>
          </a:p>
          <a:p>
            <a:pPr algn="l"/>
            <a:endParaRPr lang="en-US" sz="1800">
              <a:solidFill>
                <a:schemeClr val="bg1"/>
              </a:solidFill>
            </a:endParaRPr>
          </a:p>
          <a:p>
            <a:pPr algn="l"/>
            <a:r>
              <a:rPr lang="en-US" sz="1800" b="1">
                <a:solidFill>
                  <a:schemeClr val="bg1"/>
                </a:solidFill>
              </a:rPr>
              <a:t>5. Booking</a:t>
            </a:r>
            <a:endParaRPr lang="en-US" sz="1800" b="1">
              <a:solidFill>
                <a:schemeClr val="bg1"/>
              </a:solidFill>
            </a:endParaRPr>
          </a:p>
          <a:p>
            <a:pPr algn="l"/>
            <a:r>
              <a:rPr lang="en-US" sz="1800">
                <a:solidFill>
                  <a:schemeClr val="bg1"/>
                </a:solidFill>
              </a:rPr>
              <a:t>   A confirmed reservation linking a tourist to a destination on a specific travel date.</a:t>
            </a:r>
            <a:endParaRPr lang="en-US" sz="18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4707890"/>
          </a:xfrm>
          <a:prstGeom prst="rect">
            <a:avLst/>
          </a:prstGeom>
          <a:noFill/>
        </p:spPr>
        <p:txBody>
          <a:bodyPr wrap="square" rtlCol="0">
            <a:spAutoFit/>
          </a:bodyPr>
          <a:p>
            <a:pPr algn="l"/>
            <a:r>
              <a:rPr lang="en-US" sz="2600" b="1">
                <a:solidFill>
                  <a:schemeClr val="bg1"/>
                </a:solidFill>
              </a:rPr>
              <a:t>Entity Attributes — DestinationCategory &amp; Destination</a:t>
            </a:r>
            <a:endParaRPr lang="en-US" sz="2600" b="1">
              <a:solidFill>
                <a:schemeClr val="bg1"/>
              </a:solidFill>
            </a:endParaRPr>
          </a:p>
          <a:p>
            <a:pPr algn="l"/>
            <a:endParaRPr lang="en-US" sz="1800">
              <a:solidFill>
                <a:schemeClr val="bg1"/>
              </a:solidFill>
            </a:endParaRPr>
          </a:p>
          <a:p>
            <a:pPr algn="l"/>
            <a:r>
              <a:rPr lang="en-US" sz="2000" b="1">
                <a:solidFill>
                  <a:schemeClr val="bg1"/>
                </a:solidFill>
              </a:rPr>
              <a:t>DestinationCategory</a:t>
            </a:r>
            <a:endParaRPr lang="en-US" sz="2000" b="1">
              <a:solidFill>
                <a:schemeClr val="bg1"/>
              </a:solidFill>
            </a:endParaRPr>
          </a:p>
          <a:p>
            <a:pPr algn="l"/>
            <a:r>
              <a:rPr lang="en-US" sz="1800">
                <a:solidFill>
                  <a:schemeClr val="bg1"/>
                </a:solidFill>
              </a:rPr>
              <a:t>  </a:t>
            </a:r>
            <a:r>
              <a:rPr lang="en-US" sz="1800">
                <a:solidFill>
                  <a:schemeClr val="bg1"/>
                </a:solidFill>
                <a:latin typeface="Courier New" panose="02070309020205020404" charset="0"/>
                <a:cs typeface="Courier New" panose="02070309020205020404" charset="0"/>
              </a:rPr>
              <a:t> category_id — INT, PK, AUTO_INCREMENT</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category_name — VARCHAR(100), NOT NULL</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description — TEXT, NULL</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parent_category_id — INT, FK (self-reference for sub-categories)</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is_active — BOOLEAN, DEFAULT TRUE (soft-delete flag)</a:t>
            </a:r>
            <a:endParaRPr lang="en-US" sz="1800">
              <a:solidFill>
                <a:schemeClr val="bg1"/>
              </a:solidFill>
              <a:latin typeface="Courier New" panose="02070309020205020404" charset="0"/>
              <a:cs typeface="Courier New" panose="02070309020205020404" charset="0"/>
            </a:endParaRPr>
          </a:p>
          <a:p>
            <a:pPr algn="l"/>
            <a:endParaRPr lang="en-US" sz="1800">
              <a:solidFill>
                <a:schemeClr val="bg1"/>
              </a:solidFill>
            </a:endParaRPr>
          </a:p>
          <a:p>
            <a:pPr algn="l"/>
            <a:r>
              <a:rPr lang="en-US" sz="2000" b="1">
                <a:solidFill>
                  <a:schemeClr val="bg1"/>
                </a:solidFill>
              </a:rPr>
              <a:t>Destination</a:t>
            </a:r>
            <a:endParaRPr lang="en-US" sz="2000" b="1">
              <a:solidFill>
                <a:schemeClr val="bg1"/>
              </a:solidFill>
            </a:endParaRPr>
          </a:p>
          <a:p>
            <a:pPr algn="l"/>
            <a:r>
              <a:rPr lang="en-US" sz="1800">
                <a:solidFill>
                  <a:schemeClr val="bg1"/>
                </a:solidFill>
              </a:rPr>
              <a:t>   </a:t>
            </a:r>
            <a:r>
              <a:rPr lang="en-US" sz="1800">
                <a:solidFill>
                  <a:schemeClr val="bg1"/>
                </a:solidFill>
                <a:latin typeface="Courier New" panose="02070309020205020404" charset="0"/>
                <a:cs typeface="Courier New" panose="02070309020205020404" charset="0"/>
              </a:rPr>
              <a:t>destination_id — INT, PK, AUTO_INCREMENT</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category_id — INT, FK → DestinationCategory</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destination_name — VARCHAR(150), NOT NULL, UNIQUE</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region — VARCHAR(50), NOT NULL (e.g. Western, Northern)</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district — VARCHAR(100), NOT NULL</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entry_fee_usd — DECIMAL(10,2), CHECK(fee &gt;= 0)</a:t>
            </a:r>
            <a:endParaRPr lang="en-US" sz="1800">
              <a:solidFill>
                <a:schemeClr val="bg1"/>
              </a:solidFill>
              <a:latin typeface="Courier New" panose="02070309020205020404" charset="0"/>
              <a:cs typeface="Courier New" panose="020703090202050204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6400800"/>
          </a:xfrm>
          <a:prstGeom prst="rect">
            <a:avLst/>
          </a:prstGeom>
          <a:noFill/>
        </p:spPr>
        <p:txBody>
          <a:bodyPr wrap="square" rtlCol="0">
            <a:spAutoFit/>
          </a:bodyPr>
          <a:p>
            <a:pPr algn="l"/>
            <a:r>
              <a:rPr lang="en-US" sz="2600" b="1">
                <a:solidFill>
                  <a:schemeClr val="bg1"/>
                </a:solidFill>
              </a:rPr>
              <a:t>Entity Attributes — Activity, Tourist &amp; Booking</a:t>
            </a:r>
            <a:endParaRPr lang="en-US" sz="2600" b="1">
              <a:solidFill>
                <a:schemeClr val="bg1"/>
              </a:solidFill>
            </a:endParaRPr>
          </a:p>
          <a:p>
            <a:pPr algn="l"/>
            <a:endParaRPr lang="en-US" sz="1800">
              <a:solidFill>
                <a:schemeClr val="bg1"/>
              </a:solidFill>
            </a:endParaRPr>
          </a:p>
          <a:p>
            <a:pPr algn="l"/>
            <a:r>
              <a:rPr lang="en-US" sz="2000" b="1">
                <a:solidFill>
                  <a:schemeClr val="bg1"/>
                </a:solidFill>
              </a:rPr>
              <a:t>Activity</a:t>
            </a:r>
            <a:endParaRPr lang="en-US" sz="2000" b="1">
              <a:solidFill>
                <a:schemeClr val="bg1"/>
              </a:solidFill>
            </a:endParaRPr>
          </a:p>
          <a:p>
            <a:pPr algn="l"/>
            <a:r>
              <a:rPr lang="en-US" sz="1800">
                <a:solidFill>
                  <a:schemeClr val="bg1"/>
                </a:solidFill>
              </a:rPr>
              <a:t>   </a:t>
            </a:r>
            <a:r>
              <a:rPr lang="en-US" sz="1800">
                <a:solidFill>
                  <a:schemeClr val="bg1"/>
                </a:solidFill>
                <a:latin typeface="Courier New" panose="02070309020205020404" charset="0"/>
                <a:cs typeface="Courier New" panose="02070309020205020404" charset="0"/>
              </a:rPr>
              <a:t>activity_id — INT, PK   |   destination_id — INT, FK → Destination</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activity_name — VARCHAR(100)   |   activity_type — ENUM (Wildlife, Adventure, Cultural, Water, Scenic)</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price_per_person — DECIMAL(10,2), CHECK &gt;= 0   |   difficulty_level — Easy / Moderate / Challenging</a:t>
            </a:r>
            <a:endParaRPr lang="en-US" sz="1800">
              <a:solidFill>
                <a:schemeClr val="bg1"/>
              </a:solidFill>
              <a:latin typeface="Courier New" panose="02070309020205020404" charset="0"/>
              <a:cs typeface="Courier New" panose="02070309020205020404" charset="0"/>
            </a:endParaRPr>
          </a:p>
          <a:p>
            <a:pPr algn="l"/>
            <a:endParaRPr lang="en-US" sz="1800">
              <a:solidFill>
                <a:schemeClr val="bg1"/>
              </a:solidFill>
            </a:endParaRPr>
          </a:p>
          <a:p>
            <a:pPr algn="l"/>
            <a:r>
              <a:rPr lang="en-US" sz="2000" b="1">
                <a:solidFill>
                  <a:schemeClr val="bg1"/>
                </a:solidFill>
              </a:rPr>
              <a:t>Tourist</a:t>
            </a:r>
            <a:endParaRPr lang="en-US" sz="2000" b="1">
              <a:solidFill>
                <a:schemeClr val="bg1"/>
              </a:solidFill>
            </a:endParaRPr>
          </a:p>
          <a:p>
            <a:pPr algn="l"/>
            <a:r>
              <a:rPr lang="en-US" sz="1800">
                <a:solidFill>
                  <a:schemeClr val="bg1"/>
                </a:solidFill>
              </a:rPr>
              <a:t>   </a:t>
            </a:r>
            <a:r>
              <a:rPr lang="en-US" sz="1800">
                <a:solidFill>
                  <a:schemeClr val="bg1"/>
                </a:solidFill>
                <a:latin typeface="Courier New" panose="02070309020205020404" charset="0"/>
                <a:cs typeface="Courier New" panose="02070309020205020404" charset="0"/>
              </a:rPr>
              <a:t>tourist_id — INT, PK   |   first_name, last_name — VARCHAR(50/80)</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email — VARCHAR(100), UNIQUE   |   nationality — VARCHAR(80)</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passport_number — VARCHAR(20), UNIQUE, NULL   |   registration_date — DATE, DEFAULT CURRENT_DATE</a:t>
            </a:r>
            <a:endParaRPr lang="en-US" sz="1800">
              <a:solidFill>
                <a:schemeClr val="bg1"/>
              </a:solidFill>
              <a:latin typeface="Courier New" panose="02070309020205020404" charset="0"/>
              <a:cs typeface="Courier New" panose="02070309020205020404" charset="0"/>
            </a:endParaRPr>
          </a:p>
          <a:p>
            <a:pPr algn="l"/>
            <a:endParaRPr lang="en-US" sz="1800">
              <a:solidFill>
                <a:schemeClr val="bg1"/>
              </a:solidFill>
            </a:endParaRPr>
          </a:p>
          <a:p>
            <a:pPr algn="l"/>
            <a:r>
              <a:rPr lang="en-US" sz="2000" b="1">
                <a:solidFill>
                  <a:schemeClr val="bg1"/>
                </a:solidFill>
              </a:rPr>
              <a:t>Booking</a:t>
            </a:r>
            <a:endParaRPr lang="en-US" sz="2000" b="1">
              <a:solidFill>
                <a:schemeClr val="bg1"/>
              </a:solidFill>
            </a:endParaRPr>
          </a:p>
          <a:p>
            <a:pPr algn="l"/>
            <a:r>
              <a:rPr lang="en-US" sz="1800">
                <a:solidFill>
                  <a:schemeClr val="bg1"/>
                </a:solidFill>
              </a:rPr>
              <a:t>   </a:t>
            </a:r>
            <a:r>
              <a:rPr lang="en-US" sz="1800">
                <a:solidFill>
                  <a:schemeClr val="bg1"/>
                </a:solidFill>
                <a:latin typeface="Courier New" panose="02070309020205020404" charset="0"/>
                <a:cs typeface="Courier New" panose="02070309020205020404" charset="0"/>
              </a:rPr>
              <a:t>booking_id — INT, PK   |   tourist_id — FK → Tourist   |   destination_id — FK → Destination</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booking_date — DATE, DEFAULT CURRENT_DATE   |   travel_date — DATE, CHECK &gt;= booking_date</a:t>
            </a:r>
            <a:endParaRPr lang="en-US" sz="1800">
              <a:solidFill>
                <a:schemeClr val="bg1"/>
              </a:solidFill>
              <a:latin typeface="Courier New" panose="02070309020205020404" charset="0"/>
              <a:cs typeface="Courier New" panose="02070309020205020404" charset="0"/>
            </a:endParaRPr>
          </a:p>
          <a:p>
            <a:pPr algn="l"/>
            <a:r>
              <a:rPr lang="en-US" sz="1800">
                <a:solidFill>
                  <a:schemeClr val="bg1"/>
                </a:solidFill>
                <a:latin typeface="Courier New" panose="02070309020205020404" charset="0"/>
                <a:cs typeface="Courier New" panose="02070309020205020404" charset="0"/>
              </a:rPr>
              <a:t>   num_participants — INT, DEFAULT 1   |   total_amount_usd — DECIMAL(10,2)   |   booking_status — ENUM (Pending, Confirmed, Cancelled, Completed)</a:t>
            </a:r>
            <a:endParaRPr lang="en-US" sz="1800">
              <a:solidFill>
                <a:schemeClr val="bg1"/>
              </a:solidFill>
              <a:latin typeface="Courier New" panose="02070309020205020404" charset="0"/>
              <a:cs typeface="Courier New" panose="020703090202050204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Entity Relationships</a:t>
            </a:r>
            <a:endParaRPr lang="en-US" sz="2600" b="1">
              <a:solidFill>
                <a:schemeClr val="bg1"/>
              </a:solidFill>
            </a:endParaRPr>
          </a:p>
          <a:p>
            <a:pPr algn="l"/>
            <a:endParaRPr lang="en-US" sz="1800">
              <a:solidFill>
                <a:schemeClr val="bg1"/>
              </a:solidFill>
            </a:endParaRPr>
          </a:p>
          <a:p>
            <a:pPr algn="l"/>
            <a:r>
              <a:rPr lang="en-US" sz="1800" b="1">
                <a:solidFill>
                  <a:schemeClr val="bg1"/>
                </a:solidFill>
              </a:rPr>
              <a:t>Category to Destination (1:N)</a:t>
            </a:r>
            <a:endParaRPr lang="en-US" sz="1800" b="1">
              <a:solidFill>
                <a:schemeClr val="bg1"/>
              </a:solidFill>
            </a:endParaRPr>
          </a:p>
          <a:p>
            <a:pPr algn="l"/>
            <a:r>
              <a:rPr lang="en-US" sz="1800">
                <a:solidFill>
                  <a:schemeClr val="bg1"/>
                </a:solidFill>
              </a:rPr>
              <a:t>   One category (e.g. National Park) can classify many destinations. Each destination belongs to exactly one category. DestinationCategory also references itself to support sub-categories.</a:t>
            </a:r>
            <a:endParaRPr lang="en-US" sz="1800">
              <a:solidFill>
                <a:schemeClr val="bg1"/>
              </a:solidFill>
            </a:endParaRPr>
          </a:p>
          <a:p>
            <a:pPr algn="l"/>
            <a:endParaRPr lang="en-US" sz="1800">
              <a:solidFill>
                <a:schemeClr val="bg1"/>
              </a:solidFill>
            </a:endParaRPr>
          </a:p>
          <a:p>
            <a:pPr algn="l"/>
            <a:r>
              <a:rPr lang="en-US" sz="1800" b="1">
                <a:solidFill>
                  <a:schemeClr val="bg1"/>
                </a:solidFill>
              </a:rPr>
              <a:t>Destination to Activity (1:N)</a:t>
            </a:r>
            <a:endParaRPr lang="en-US" sz="1800" b="1">
              <a:solidFill>
                <a:schemeClr val="bg1"/>
              </a:solidFill>
            </a:endParaRPr>
          </a:p>
          <a:p>
            <a:pPr algn="l"/>
            <a:r>
              <a:rPr lang="en-US" sz="1800">
                <a:solidFill>
                  <a:schemeClr val="bg1"/>
                </a:solidFill>
              </a:rPr>
              <a:t>   One destination can offer multiple activities such as a game drive and a boat cruise. Each activity is tied to a single destination.</a:t>
            </a:r>
            <a:endParaRPr lang="en-US" sz="1800">
              <a:solidFill>
                <a:schemeClr val="bg1"/>
              </a:solidFill>
            </a:endParaRPr>
          </a:p>
          <a:p>
            <a:pPr algn="l"/>
            <a:endParaRPr lang="en-US" sz="1800">
              <a:solidFill>
                <a:schemeClr val="bg1"/>
              </a:solidFill>
            </a:endParaRPr>
          </a:p>
          <a:p>
            <a:pPr algn="l"/>
            <a:r>
              <a:rPr lang="en-US" sz="1800" b="1">
                <a:solidFill>
                  <a:schemeClr val="bg1"/>
                </a:solidFill>
              </a:rPr>
              <a:t>Tourist to Booking (1:N)</a:t>
            </a:r>
            <a:endParaRPr lang="en-US" sz="1800" b="1">
              <a:solidFill>
                <a:schemeClr val="bg1"/>
              </a:solidFill>
            </a:endParaRPr>
          </a:p>
          <a:p>
            <a:pPr algn="l"/>
            <a:r>
              <a:rPr lang="en-US" sz="1800">
                <a:solidFill>
                  <a:schemeClr val="bg1"/>
                </a:solidFill>
              </a:rPr>
              <a:t>   A single tourist can make multiple bookings over time. Each booking record is strictly tied to one registered tourist.</a:t>
            </a:r>
            <a:endParaRPr lang="en-US" sz="1800">
              <a:solidFill>
                <a:schemeClr val="bg1"/>
              </a:solidFill>
            </a:endParaRPr>
          </a:p>
          <a:p>
            <a:pPr algn="l"/>
            <a:endParaRPr lang="en-US" sz="1800">
              <a:solidFill>
                <a:schemeClr val="bg1"/>
              </a:solidFill>
            </a:endParaRPr>
          </a:p>
          <a:p>
            <a:pPr algn="l"/>
            <a:r>
              <a:rPr lang="en-US" sz="1800" b="1">
                <a:solidFill>
                  <a:schemeClr val="bg1"/>
                </a:solidFill>
              </a:rPr>
              <a:t>Destination to Booking (1:N)</a:t>
            </a:r>
            <a:endParaRPr lang="en-US" sz="1800" b="1">
              <a:solidFill>
                <a:schemeClr val="bg1"/>
              </a:solidFill>
            </a:endParaRPr>
          </a:p>
          <a:p>
            <a:pPr algn="l"/>
            <a:r>
              <a:rPr lang="en-US" sz="1800">
                <a:solidFill>
                  <a:schemeClr val="bg1"/>
                </a:solidFill>
              </a:rPr>
              <a:t>   A destination can receive many bookings from different tourists on different travel dates. Each booking references exactly one destination.</a:t>
            </a:r>
            <a:endParaRPr lang="en-US" sz="180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262245"/>
          </a:xfrm>
          <a:prstGeom prst="rect">
            <a:avLst/>
          </a:prstGeom>
          <a:noFill/>
        </p:spPr>
        <p:txBody>
          <a:bodyPr wrap="square" rtlCol="0">
            <a:spAutoFit/>
          </a:bodyPr>
          <a:p>
            <a:pPr algn="l"/>
            <a:r>
              <a:rPr lang="en-US" sz="2600" b="1">
                <a:solidFill>
                  <a:schemeClr val="bg1"/>
                </a:solidFill>
              </a:rPr>
              <a:t>Entity-Relationship Diagram (ERD)</a:t>
            </a:r>
            <a:endParaRPr lang="en-US" sz="2600" b="1">
              <a:solidFill>
                <a:schemeClr val="bg1"/>
              </a:solidFill>
            </a:endParaRPr>
          </a:p>
          <a:p>
            <a:pPr algn="l"/>
            <a:endParaRPr lang="en-US" sz="1800">
              <a:solidFill>
                <a:schemeClr val="bg1"/>
              </a:solidFill>
            </a:endParaRPr>
          </a:p>
          <a:p>
            <a:pPr algn="l"/>
            <a:r>
              <a:rPr lang="en-US" sz="1800">
                <a:solidFill>
                  <a:schemeClr val="bg1"/>
                </a:solidFill>
              </a:rPr>
              <a:t>The diagram below uses structured text notation. PK = Primary Key, FK = Foreign Key.</a:t>
            </a:r>
            <a:endParaRPr lang="en-US" sz="1800">
              <a:solidFill>
                <a:schemeClr val="bg1"/>
              </a:solidFill>
            </a:endParaRPr>
          </a:p>
          <a:p>
            <a:pPr algn="l"/>
            <a:endParaRPr lang="en-US" sz="1800">
              <a:solidFill>
                <a:schemeClr val="bg1"/>
              </a:solidFill>
            </a:endParaRPr>
          </a:p>
          <a:p>
            <a:pPr algn="l"/>
            <a:r>
              <a:rPr lang="en-US" sz="1600">
                <a:solidFill>
                  <a:schemeClr val="bg1"/>
                </a:solidFill>
                <a:latin typeface="Courier New" panose="02070309020205020404" charset="0"/>
                <a:cs typeface="Courier New" panose="02070309020205020404" charset="0"/>
              </a:rPr>
              <a:t>DestinationCategory (category_id PK, category_name, description, parent_category_id FK, is_active)</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 1  (self-ref: parent_category_id)</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 CLASSIFIES</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 N</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Destination (destination_id PK, category_id FK, destination_name, region, district, entry_fee_usd)</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|1                        |1</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 OFFERS          RECEIVES |</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|N                        |N</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Activity (activity_id PK,      Booking (booking_id PK, tourist_id FK, destination_id FK,</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destination_id FK,              booking_date, travel_date, num_participants,</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activity_name, type,            total_amount_usd, booking_status)</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price_per_person,                        | N</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difficulty_level)                 MAKES  |</a:t>
            </a:r>
            <a:endParaRPr lang="en-US" sz="1600">
              <a:solidFill>
                <a:schemeClr val="bg1"/>
              </a:solidFill>
              <a:latin typeface="Courier New" panose="02070309020205020404" charset="0"/>
              <a:cs typeface="Courier New" panose="02070309020205020404" charset="0"/>
            </a:endParaRPr>
          </a:p>
          <a:p>
            <a:pPr algn="l"/>
            <a:r>
              <a:rPr lang="en-US" sz="1600">
                <a:solidFill>
                  <a:schemeClr val="bg1"/>
                </a:solidFill>
                <a:latin typeface="Courier New" panose="02070309020205020404" charset="0"/>
                <a:cs typeface="Courier New" panose="02070309020205020404" charset="0"/>
              </a:rPr>
              <a:t>                                     </a:t>
            </a:r>
            <a:endParaRPr lang="en-US" sz="1600">
              <a:solidFill>
                <a:schemeClr val="bg1"/>
              </a:solidFill>
              <a:latin typeface="Courier New" panose="02070309020205020404" charset="0"/>
              <a:cs typeface="Courier New" panose="020703090202050204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1045210"/>
          </a:xfrm>
          <a:prstGeom prst="rect">
            <a:avLst/>
          </a:prstGeom>
          <a:noFill/>
        </p:spPr>
        <p:txBody>
          <a:bodyPr wrap="square" rtlCol="0">
            <a:spAutoFit/>
          </a:bodyPr>
          <a:p>
            <a:pPr algn="l"/>
            <a:r>
              <a:rPr lang="en-US" sz="2600" b="1">
                <a:solidFill>
                  <a:schemeClr val="bg1"/>
                </a:solidFill>
              </a:rPr>
              <a:t>Database Schema</a:t>
            </a:r>
            <a:endParaRPr lang="en-US" sz="2600" b="1">
              <a:solidFill>
                <a:schemeClr val="bg1"/>
              </a:solidFill>
            </a:endParaRPr>
          </a:p>
          <a:p>
            <a:pPr algn="l"/>
            <a:endParaRPr lang="en-US" sz="1800">
              <a:solidFill>
                <a:schemeClr val="bg1"/>
              </a:solidFill>
            </a:endParaRPr>
          </a:p>
          <a:p>
            <a:pPr algn="l"/>
            <a:endParaRPr lang="en-US" sz="1800">
              <a:solidFill>
                <a:schemeClr val="bg1"/>
              </a:solidFill>
            </a:endParaRPr>
          </a:p>
        </p:txBody>
      </p:sp>
      <p:pic>
        <p:nvPicPr>
          <p:cNvPr id="2" name="Picture 1" descr="Screenshot From 2026-05-07 01-05-12"/>
          <p:cNvPicPr>
            <a:picLocks noChangeAspect="1"/>
          </p:cNvPicPr>
          <p:nvPr/>
        </p:nvPicPr>
        <p:blipFill>
          <a:blip r:embed="rId1"/>
          <a:stretch>
            <a:fillRect/>
          </a:stretch>
        </p:blipFill>
        <p:spPr>
          <a:xfrm>
            <a:off x="483235" y="951865"/>
            <a:ext cx="10507345" cy="53282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82930" y="1882775"/>
            <a:ext cx="10758805" cy="2861310"/>
          </a:xfrm>
          <a:prstGeom prst="rect">
            <a:avLst/>
          </a:prstGeom>
          <a:noFill/>
        </p:spPr>
        <p:txBody>
          <a:bodyPr wrap="square" rtlCol="0">
            <a:spAutoFit/>
          </a:bodyPr>
          <a:p>
            <a:pPr algn="l"/>
            <a:r>
              <a:rPr lang="en-US">
                <a:solidFill>
                  <a:schemeClr val="bg1"/>
                </a:solidFill>
                <a:sym typeface="+mn-ea"/>
              </a:rPr>
              <a:t>The physical schema consists of five interrelated tables linked through foreign key constraints:</a:t>
            </a:r>
            <a:endParaRPr lang="en-US">
              <a:solidFill>
                <a:schemeClr val="bg1"/>
              </a:solidFill>
            </a:endParaRPr>
          </a:p>
          <a:p>
            <a:pPr algn="l"/>
            <a:endParaRPr lang="en-US">
              <a:solidFill>
                <a:schemeClr val="bg1"/>
              </a:solidFill>
            </a:endParaRPr>
          </a:p>
          <a:p>
            <a:pPr algn="l"/>
            <a:endParaRPr lang="en-US">
              <a:solidFill>
                <a:schemeClr val="bg1"/>
              </a:solidFill>
            </a:endParaRPr>
          </a:p>
          <a:p>
            <a:pPr algn="l"/>
            <a:r>
              <a:rPr lang="en-US" b="1">
                <a:solidFill>
                  <a:schemeClr val="bg1"/>
                </a:solidFill>
                <a:sym typeface="+mn-ea"/>
              </a:rPr>
              <a:t>Key Constraints Applied:</a:t>
            </a:r>
            <a:endParaRPr lang="en-US" b="1">
              <a:solidFill>
                <a:schemeClr val="bg1"/>
              </a:solidFill>
            </a:endParaRPr>
          </a:p>
          <a:p>
            <a:pPr algn="l"/>
            <a:r>
              <a:rPr lang="en-US">
                <a:solidFill>
                  <a:schemeClr val="bg1"/>
                </a:solidFill>
                <a:sym typeface="+mn-ea"/>
              </a:rPr>
              <a:t>   CHECK (travel_date &gt;= booking_date) ensures logical booking dates.</a:t>
            </a:r>
            <a:endParaRPr lang="en-US">
              <a:solidFill>
                <a:schemeClr val="bg1"/>
              </a:solidFill>
            </a:endParaRPr>
          </a:p>
          <a:p>
            <a:pPr algn="l"/>
            <a:r>
              <a:rPr lang="en-US">
                <a:solidFill>
                  <a:schemeClr val="bg1"/>
                </a:solidFill>
                <a:sym typeface="+mn-ea"/>
              </a:rPr>
              <a:t>   CHECK (num_participants &gt; 0) prevents zero or negative group sizes.</a:t>
            </a:r>
            <a:endParaRPr lang="en-US">
              <a:solidFill>
                <a:schemeClr val="bg1"/>
              </a:solidFill>
            </a:endParaRPr>
          </a:p>
          <a:p>
            <a:pPr algn="l"/>
            <a:r>
              <a:rPr lang="en-US">
                <a:solidFill>
                  <a:schemeClr val="bg1"/>
                </a:solidFill>
                <a:sym typeface="+mn-ea"/>
              </a:rPr>
              <a:t>   CHECK (entry_fee_usd &gt;= 0) and CHECK (price_per_person &gt;= 0) enforce non-negative pricing.</a:t>
            </a:r>
            <a:endParaRPr lang="en-US">
              <a:solidFill>
                <a:schemeClr val="bg1"/>
              </a:solidFill>
            </a:endParaRPr>
          </a:p>
          <a:p>
            <a:pPr algn="l"/>
            <a:r>
              <a:rPr lang="en-US">
                <a:solidFill>
                  <a:schemeClr val="bg1"/>
                </a:solidFill>
                <a:sym typeface="+mn-ea"/>
              </a:rPr>
              <a:t>   ENUM types enforce valid values for activity_type, difficulty_level, and booking_status.</a:t>
            </a:r>
            <a:endParaRPr lang="en-US">
              <a:solidFill>
                <a:schemeClr val="bg1"/>
              </a:solidFill>
            </a:endParaRPr>
          </a:p>
          <a:p>
            <a:pPr algn="l"/>
            <a:r>
              <a:rPr lang="en-US">
                <a:solidFill>
                  <a:schemeClr val="bg1"/>
                </a:solidFill>
                <a:sym typeface="+mn-ea"/>
              </a:rPr>
              <a:t>   ON DELETE CASCADE on Activity ensures activities are removed when a destination is deleted.</a:t>
            </a:r>
            <a:endParaRPr lang="en-US">
              <a:solidFill>
                <a:schemeClr val="bg1"/>
              </a:solidFill>
            </a:endParaRPr>
          </a:p>
          <a:p>
            <a:pPr algn="l"/>
            <a:r>
              <a:rPr lang="en-US">
                <a:solidFill>
                  <a:schemeClr val="bg1"/>
                </a:solidFill>
                <a:sym typeface="+mn-ea"/>
              </a:rPr>
              <a:t>   ON DELETE RESTRICT on Booking prevents deletion of tourists with active booking records.</a:t>
            </a:r>
            <a:endParaRPr lang="en-US">
              <a:solidFill>
                <a:schemeClr val="bg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4984750"/>
          </a:xfrm>
          <a:prstGeom prst="rect">
            <a:avLst/>
          </a:prstGeom>
          <a:noFill/>
        </p:spPr>
        <p:txBody>
          <a:bodyPr wrap="square" rtlCol="0">
            <a:spAutoFit/>
          </a:bodyPr>
          <a:p>
            <a:pPr algn="l"/>
            <a:r>
              <a:rPr lang="en-US" sz="2600" b="1">
                <a:solidFill>
                  <a:schemeClr val="bg1"/>
                </a:solidFill>
              </a:rPr>
              <a:t>Sample Data</a:t>
            </a:r>
            <a:endParaRPr lang="en-US" sz="2600" b="1">
              <a:solidFill>
                <a:schemeClr val="bg1"/>
              </a:solidFill>
            </a:endParaRPr>
          </a:p>
          <a:p>
            <a:pPr algn="l"/>
            <a:endParaRPr lang="en-US" sz="1800">
              <a:solidFill>
                <a:schemeClr val="bg1"/>
              </a:solidFill>
            </a:endParaRPr>
          </a:p>
          <a:p>
            <a:pPr algn="l"/>
            <a:r>
              <a:rPr lang="en-US" sz="2000" b="1">
                <a:solidFill>
                  <a:schemeClr val="bg1"/>
                </a:solidFill>
              </a:rPr>
              <a:t>Destinations</a:t>
            </a:r>
            <a:endParaRPr lang="en-US" sz="2000" b="1">
              <a:solidFill>
                <a:schemeClr val="bg1"/>
              </a:solidFill>
            </a:endParaRPr>
          </a:p>
          <a:p>
            <a:pPr algn="l"/>
            <a:r>
              <a:rPr lang="en-US" sz="1800">
                <a:solidFill>
                  <a:schemeClr val="bg1"/>
                </a:solidFill>
              </a:rPr>
              <a:t> </a:t>
            </a:r>
            <a:endParaRPr lang="en-US" sz="1800">
              <a:solidFill>
                <a:schemeClr val="bg1"/>
              </a:solidFill>
            </a:endParaRPr>
          </a:p>
          <a:p>
            <a:pPr algn="l"/>
            <a:endParaRPr lang="en-US" sz="1800" b="1">
              <a:solidFill>
                <a:schemeClr val="bg1"/>
              </a:solidFill>
            </a:endParaRPr>
          </a:p>
          <a:p>
            <a:pPr algn="l"/>
            <a:endParaRPr lang="en-US" sz="1800" b="1">
              <a:solidFill>
                <a:schemeClr val="bg1"/>
              </a:solidFill>
            </a:endParaRPr>
          </a:p>
          <a:p>
            <a:pPr algn="l"/>
            <a:endParaRPr lang="en-US" sz="1800" b="1">
              <a:solidFill>
                <a:schemeClr val="bg1"/>
              </a:solidFill>
            </a:endParaRPr>
          </a:p>
          <a:p>
            <a:pPr algn="l"/>
            <a:endParaRPr lang="en-US" sz="1800" b="1">
              <a:solidFill>
                <a:schemeClr val="bg1"/>
              </a:solidFill>
            </a:endParaRPr>
          </a:p>
          <a:p>
            <a:pPr algn="l"/>
            <a:endParaRPr lang="en-US" sz="1800" b="1">
              <a:solidFill>
                <a:schemeClr val="bg1"/>
              </a:solidFill>
            </a:endParaRPr>
          </a:p>
          <a:p>
            <a:pPr algn="l"/>
            <a:endParaRPr lang="en-US" sz="1800" b="1">
              <a:solidFill>
                <a:schemeClr val="bg1"/>
              </a:solidFill>
            </a:endParaRPr>
          </a:p>
          <a:p>
            <a:pPr algn="l"/>
            <a:endParaRPr lang="en-US" sz="1800" b="1">
              <a:solidFill>
                <a:schemeClr val="bg1"/>
              </a:solidFill>
            </a:endParaRPr>
          </a:p>
          <a:p>
            <a:pPr algn="l"/>
            <a:r>
              <a:rPr lang="en-US" sz="2000" b="1">
                <a:solidFill>
                  <a:schemeClr val="bg1"/>
                </a:solidFill>
              </a:rPr>
              <a:t>Activities</a:t>
            </a:r>
            <a:endParaRPr lang="en-US" sz="2000" b="1">
              <a:solidFill>
                <a:schemeClr val="bg1"/>
              </a:solidFill>
            </a:endParaRPr>
          </a:p>
          <a:p>
            <a:pPr algn="l"/>
            <a:r>
              <a:rPr lang="en-US" sz="1800">
                <a:solidFill>
                  <a:schemeClr val="bg1"/>
                </a:solidFill>
              </a:rPr>
              <a:t>   </a:t>
            </a:r>
            <a:endParaRPr lang="en-US" sz="1800">
              <a:solidFill>
                <a:schemeClr val="bg1"/>
              </a:solidFill>
            </a:endParaRPr>
          </a:p>
          <a:p>
            <a:pPr algn="l"/>
            <a:endParaRPr lang="en-US" sz="1800">
              <a:solidFill>
                <a:schemeClr val="bg1"/>
              </a:solidFill>
            </a:endParaRPr>
          </a:p>
          <a:p>
            <a:pPr algn="l"/>
            <a:endParaRPr lang="en-US" sz="1800">
              <a:solidFill>
                <a:schemeClr val="bg1"/>
              </a:solidFill>
            </a:endParaRPr>
          </a:p>
          <a:p>
            <a:pPr algn="l"/>
            <a:endParaRPr lang="en-US" sz="1800">
              <a:solidFill>
                <a:schemeClr val="bg1"/>
              </a:solidFill>
            </a:endParaRPr>
          </a:p>
          <a:p>
            <a:pPr algn="l"/>
            <a:endParaRPr lang="en-US" sz="1800">
              <a:solidFill>
                <a:schemeClr val="bg1"/>
              </a:solidFill>
            </a:endParaRPr>
          </a:p>
        </p:txBody>
      </p:sp>
      <p:pic>
        <p:nvPicPr>
          <p:cNvPr id="6" name="Picture 5" descr="Screenshot From 2026-05-06 23-07-11"/>
          <p:cNvPicPr>
            <a:picLocks noChangeAspect="1"/>
          </p:cNvPicPr>
          <p:nvPr/>
        </p:nvPicPr>
        <p:blipFill>
          <a:blip r:embed="rId1"/>
          <a:stretch>
            <a:fillRect/>
          </a:stretch>
        </p:blipFill>
        <p:spPr>
          <a:xfrm>
            <a:off x="412750" y="1376045"/>
            <a:ext cx="11383645" cy="2138680"/>
          </a:xfrm>
          <a:prstGeom prst="rect">
            <a:avLst/>
          </a:prstGeom>
        </p:spPr>
      </p:pic>
      <p:pic>
        <p:nvPicPr>
          <p:cNvPr id="10" name="Picture 9" descr="Screenshot From 2026-05-06 23-10-34"/>
          <p:cNvPicPr>
            <a:picLocks noChangeAspect="1"/>
          </p:cNvPicPr>
          <p:nvPr/>
        </p:nvPicPr>
        <p:blipFill>
          <a:blip r:embed="rId2"/>
          <a:stretch>
            <a:fillRect/>
          </a:stretch>
        </p:blipFill>
        <p:spPr>
          <a:xfrm>
            <a:off x="411480" y="4067810"/>
            <a:ext cx="11780520" cy="17087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76325" y="81280"/>
            <a:ext cx="940435" cy="645160"/>
          </a:xfrm>
          <a:prstGeom prst="rect">
            <a:avLst/>
          </a:prstGeom>
          <a:noFill/>
        </p:spPr>
        <p:txBody>
          <a:bodyPr wrap="none" rtlCol="0">
            <a:spAutoFit/>
          </a:bodyPr>
          <a:p>
            <a:pPr algn="l"/>
            <a:r>
              <a:rPr lang="en-US" b="1">
                <a:solidFill>
                  <a:schemeClr val="bg1"/>
                </a:solidFill>
                <a:sym typeface="+mn-ea"/>
              </a:rPr>
              <a:t>Tourist</a:t>
            </a:r>
            <a:endParaRPr lang="en-US" b="1">
              <a:solidFill>
                <a:schemeClr val="bg1"/>
              </a:solidFill>
            </a:endParaRPr>
          </a:p>
          <a:p>
            <a:pPr algn="l"/>
            <a:r>
              <a:rPr lang="en-US">
                <a:solidFill>
                  <a:schemeClr val="bg1"/>
                </a:solidFill>
                <a:sym typeface="+mn-ea"/>
              </a:rPr>
              <a:t>6</a:t>
            </a:r>
            <a:endParaRPr lang="en-US">
              <a:solidFill>
                <a:schemeClr val="bg1"/>
              </a:solidFill>
              <a:sym typeface="+mn-ea"/>
            </a:endParaRPr>
          </a:p>
        </p:txBody>
      </p:sp>
      <p:pic>
        <p:nvPicPr>
          <p:cNvPr id="4" name="Picture 3" descr="Screenshot From 2026-05-06 23-08-51"/>
          <p:cNvPicPr>
            <a:picLocks noChangeAspect="1"/>
          </p:cNvPicPr>
          <p:nvPr/>
        </p:nvPicPr>
        <p:blipFill>
          <a:blip r:embed="rId1"/>
          <a:stretch>
            <a:fillRect/>
          </a:stretch>
        </p:blipFill>
        <p:spPr>
          <a:xfrm>
            <a:off x="338455" y="474345"/>
            <a:ext cx="11124565" cy="1884045"/>
          </a:xfrm>
          <a:prstGeom prst="rect">
            <a:avLst/>
          </a:prstGeom>
        </p:spPr>
      </p:pic>
      <p:sp>
        <p:nvSpPr>
          <p:cNvPr id="7" name="Text Box 6"/>
          <p:cNvSpPr txBox="1"/>
          <p:nvPr/>
        </p:nvSpPr>
        <p:spPr>
          <a:xfrm>
            <a:off x="717550" y="2405380"/>
            <a:ext cx="2731770" cy="368300"/>
          </a:xfrm>
          <a:prstGeom prst="rect">
            <a:avLst/>
          </a:prstGeom>
          <a:noFill/>
        </p:spPr>
        <p:txBody>
          <a:bodyPr wrap="square" rtlCol="0">
            <a:spAutoFit/>
          </a:bodyPr>
          <a:p>
            <a:r>
              <a:rPr lang="en-US" b="1">
                <a:solidFill>
                  <a:schemeClr val="bg1"/>
                </a:solidFill>
              </a:rPr>
              <a:t>DestinationCategory</a:t>
            </a:r>
            <a:endParaRPr lang="en-US" b="1"/>
          </a:p>
        </p:txBody>
      </p:sp>
      <p:pic>
        <p:nvPicPr>
          <p:cNvPr id="9" name="Picture 8" descr="Screenshot From 2026-05-06 23-04-01"/>
          <p:cNvPicPr>
            <a:picLocks noChangeAspect="1"/>
          </p:cNvPicPr>
          <p:nvPr/>
        </p:nvPicPr>
        <p:blipFill>
          <a:blip r:embed="rId2"/>
          <a:stretch>
            <a:fillRect/>
          </a:stretch>
        </p:blipFill>
        <p:spPr>
          <a:xfrm>
            <a:off x="194310" y="2927985"/>
            <a:ext cx="11463655" cy="1903730"/>
          </a:xfrm>
          <a:prstGeom prst="rect">
            <a:avLst/>
          </a:prstGeom>
        </p:spPr>
      </p:pic>
      <p:pic>
        <p:nvPicPr>
          <p:cNvPr id="11" name="Picture 10" descr="Screenshot From 2026-05-06 23-11-46"/>
          <p:cNvPicPr>
            <a:picLocks noChangeAspect="1"/>
          </p:cNvPicPr>
          <p:nvPr/>
        </p:nvPicPr>
        <p:blipFill>
          <a:blip r:embed="rId3"/>
          <a:stretch>
            <a:fillRect/>
          </a:stretch>
        </p:blipFill>
        <p:spPr>
          <a:xfrm>
            <a:off x="193675" y="4984115"/>
            <a:ext cx="11551285" cy="16167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08735" y="1570990"/>
            <a:ext cx="309880" cy="368300"/>
          </a:xfrm>
          <a:prstGeom prst="rect">
            <a:avLst/>
          </a:prstGeom>
          <a:noFill/>
        </p:spPr>
        <p:txBody>
          <a:bodyPr wrap="none" rtlCol="0">
            <a:spAutoFit/>
          </a:bodyPr>
          <a:p>
            <a:endParaRPr lang="en-US"/>
          </a:p>
        </p:txBody>
      </p:sp>
      <p:pic>
        <p:nvPicPr>
          <p:cNvPr id="5" name="Picture 4" descr="Screenshot From 2026-05-06 23-50-25"/>
          <p:cNvPicPr>
            <a:picLocks noChangeAspect="1"/>
          </p:cNvPicPr>
          <p:nvPr/>
        </p:nvPicPr>
        <p:blipFill>
          <a:blip r:embed="rId1"/>
          <a:stretch>
            <a:fillRect/>
          </a:stretch>
        </p:blipFill>
        <p:spPr>
          <a:xfrm>
            <a:off x="518795" y="3263900"/>
            <a:ext cx="11103610" cy="3169285"/>
          </a:xfrm>
          <a:prstGeom prst="rect">
            <a:avLst/>
          </a:prstGeom>
        </p:spPr>
      </p:pic>
      <p:sp>
        <p:nvSpPr>
          <p:cNvPr id="6" name="Text Box 5"/>
          <p:cNvSpPr txBox="1"/>
          <p:nvPr/>
        </p:nvSpPr>
        <p:spPr>
          <a:xfrm>
            <a:off x="1075690" y="1036955"/>
            <a:ext cx="5250180" cy="3138170"/>
          </a:xfrm>
          <a:prstGeom prst="rect">
            <a:avLst/>
          </a:prstGeom>
          <a:noFill/>
        </p:spPr>
        <p:txBody>
          <a:bodyPr wrap="square" rtlCol="0">
            <a:spAutoFit/>
          </a:bodyPr>
          <a:p>
            <a:pPr algn="l"/>
            <a:r>
              <a:rPr lang="en-US" b="1">
                <a:solidFill>
                  <a:schemeClr val="bg1"/>
                </a:solidFill>
              </a:rPr>
              <a:t>Sample queries and results.</a:t>
            </a:r>
            <a:endParaRPr lang="en-US" b="1">
              <a:solidFill>
                <a:schemeClr val="bg1"/>
              </a:solidFill>
            </a:endParaRPr>
          </a:p>
          <a:p>
            <a:pPr algn="l"/>
            <a:r>
              <a:rPr lang="en-US">
                <a:solidFill>
                  <a:schemeClr val="bg1"/>
                </a:solidFill>
              </a:rPr>
              <a:t>A query is a request for information on a database.</a:t>
            </a:r>
            <a:endParaRPr lang="en-US">
              <a:solidFill>
                <a:schemeClr val="bg1"/>
              </a:solidFill>
            </a:endParaRPr>
          </a:p>
          <a:p>
            <a:pPr algn="l"/>
            <a:r>
              <a:rPr lang="en-US">
                <a:solidFill>
                  <a:schemeClr val="bg1"/>
                </a:solidFill>
              </a:rPr>
              <a:t>It allows users to:</a:t>
            </a:r>
            <a:endParaRPr lang="en-US">
              <a:solidFill>
                <a:schemeClr val="bg1"/>
              </a:solidFill>
            </a:endParaRPr>
          </a:p>
          <a:p>
            <a:pPr algn="l"/>
            <a:r>
              <a:rPr lang="en-US">
                <a:solidFill>
                  <a:schemeClr val="bg1"/>
                </a:solidFill>
              </a:rPr>
              <a:t>  • Search    – Find specific records</a:t>
            </a:r>
            <a:endParaRPr lang="en-US">
              <a:solidFill>
                <a:schemeClr val="bg1"/>
              </a:solidFill>
            </a:endParaRPr>
          </a:p>
          <a:p>
            <a:pPr algn="l"/>
            <a:r>
              <a:rPr lang="en-US">
                <a:solidFill>
                  <a:schemeClr val="bg1"/>
                </a:solidFill>
              </a:rPr>
              <a:t>  • Filter    – Show only what you need</a:t>
            </a:r>
            <a:endParaRPr lang="en-US">
              <a:solidFill>
                <a:schemeClr val="bg1"/>
              </a:solidFill>
            </a:endParaRPr>
          </a:p>
          <a:p>
            <a:pPr algn="l"/>
            <a:r>
              <a:rPr lang="en-US">
                <a:solidFill>
                  <a:schemeClr val="bg1"/>
                </a:solidFill>
              </a:rPr>
              <a:t>  • Calculate – Sum, count, average data</a:t>
            </a:r>
            <a:endParaRPr lang="en-US">
              <a:solidFill>
                <a:schemeClr val="bg1"/>
              </a:solidFill>
            </a:endParaRPr>
          </a:p>
          <a:p>
            <a:pPr algn="l"/>
            <a:r>
              <a:rPr lang="en-US">
                <a:solidFill>
                  <a:schemeClr val="bg1"/>
                </a:solidFill>
              </a:rPr>
              <a:t>  • Combine   – Pull data from multiple tables</a:t>
            </a:r>
            <a:endParaRPr lang="en-US">
              <a:solidFill>
                <a:schemeClr val="bg1"/>
              </a:solidFill>
            </a:endParaRPr>
          </a:p>
          <a:p>
            <a:pPr algn="l"/>
            <a:endParaRPr lang="en-US"/>
          </a:p>
          <a:p>
            <a:pPr algn="l"/>
            <a:endParaRPr lang="en-US"/>
          </a:p>
          <a:p>
            <a:pPr algn="l"/>
            <a:endParaRPr 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From 2026-05-06 23-52-09"/>
          <p:cNvPicPr>
            <a:picLocks noChangeAspect="1"/>
          </p:cNvPicPr>
          <p:nvPr/>
        </p:nvPicPr>
        <p:blipFill>
          <a:blip r:embed="rId1"/>
          <a:stretch>
            <a:fillRect/>
          </a:stretch>
        </p:blipFill>
        <p:spPr>
          <a:xfrm>
            <a:off x="540385" y="1379855"/>
            <a:ext cx="11111230" cy="24612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Integration Points with Other Modules</a:t>
            </a:r>
            <a:endParaRPr lang="en-US" sz="2600" b="1">
              <a:solidFill>
                <a:schemeClr val="bg1"/>
              </a:solidFill>
            </a:endParaRPr>
          </a:p>
          <a:p>
            <a:pPr algn="l"/>
            <a:endParaRPr lang="en-US" sz="1800">
              <a:solidFill>
                <a:schemeClr val="bg1"/>
              </a:solidFill>
            </a:endParaRPr>
          </a:p>
          <a:p>
            <a:pPr algn="l"/>
            <a:r>
              <a:rPr lang="en-US" sz="1800">
                <a:solidFill>
                  <a:schemeClr val="bg1"/>
                </a:solidFill>
              </a:rPr>
              <a:t>The Destination Module is designed as a self-contained, loosely-coupled sub-system. The following fields serve as integration anchors for other group members in the tourism sector:</a:t>
            </a:r>
            <a:endParaRPr lang="en-US" sz="1800">
              <a:solidFill>
                <a:schemeClr val="bg1"/>
              </a:solidFill>
            </a:endParaRPr>
          </a:p>
          <a:p>
            <a:pPr algn="l"/>
            <a:endParaRPr lang="en-US" sz="1800">
              <a:solidFill>
                <a:schemeClr val="bg1"/>
              </a:solidFill>
            </a:endParaRPr>
          </a:p>
          <a:p>
            <a:pPr algn="l"/>
            <a:r>
              <a:rPr lang="en-US" sz="1800" b="1">
                <a:solidFill>
                  <a:schemeClr val="bg1"/>
                </a:solidFill>
              </a:rPr>
              <a:t>tourist_id  |  Tourist Table  |  Hotel, Transport, Payments Modules</a:t>
            </a:r>
            <a:endParaRPr lang="en-US" sz="1800" b="1">
              <a:solidFill>
                <a:schemeClr val="bg1"/>
              </a:solidFill>
            </a:endParaRPr>
          </a:p>
          <a:p>
            <a:pPr algn="l"/>
            <a:r>
              <a:rPr lang="en-US" sz="1800">
                <a:solidFill>
                  <a:schemeClr val="bg1"/>
                </a:solidFill>
              </a:rPr>
              <a:t>   Shared identity key across all modules. Any other module that needs to reference a specific tourist uses this ID to maintain consistency across the system.</a:t>
            </a:r>
            <a:endParaRPr lang="en-US" sz="1800">
              <a:solidFill>
                <a:schemeClr val="bg1"/>
              </a:solidFill>
            </a:endParaRPr>
          </a:p>
          <a:p>
            <a:pPr algn="l"/>
            <a:endParaRPr lang="en-US" sz="1800">
              <a:solidFill>
                <a:schemeClr val="bg1"/>
              </a:solidFill>
            </a:endParaRPr>
          </a:p>
          <a:p>
            <a:pPr algn="l"/>
            <a:r>
              <a:rPr lang="en-US" sz="1800" b="1">
                <a:solidFill>
                  <a:schemeClr val="bg1"/>
                </a:solidFill>
              </a:rPr>
              <a:t>booking_id  |  Booking Table  |  Payments Module</a:t>
            </a:r>
            <a:endParaRPr lang="en-US" sz="1800" b="1">
              <a:solidFill>
                <a:schemeClr val="bg1"/>
              </a:solidFill>
            </a:endParaRPr>
          </a:p>
          <a:p>
            <a:pPr algn="l"/>
            <a:r>
              <a:rPr lang="en-US" sz="1800">
                <a:solidFill>
                  <a:schemeClr val="bg1"/>
                </a:solidFill>
              </a:rPr>
              <a:t>   Acts as the booking reference for payment invoices. The Payments Module will use booking_id to link financial transactions to specific reservations.</a:t>
            </a:r>
            <a:endParaRPr lang="en-US" sz="1800">
              <a:solidFill>
                <a:schemeClr val="bg1"/>
              </a:solidFill>
            </a:endParaRPr>
          </a:p>
          <a:p>
            <a:pPr algn="l"/>
            <a:endParaRPr lang="en-US" sz="1800">
              <a:solidFill>
                <a:schemeClr val="bg1"/>
              </a:solidFill>
            </a:endParaRPr>
          </a:p>
          <a:p>
            <a:pPr algn="l"/>
            <a:r>
              <a:rPr lang="en-US" sz="1800" b="1">
                <a:solidFill>
                  <a:schemeClr val="bg1"/>
                </a:solidFill>
              </a:rPr>
              <a:t>destination_id  |  Destination Table  |  Transport, Hotel Modules</a:t>
            </a:r>
            <a:endParaRPr lang="en-US" sz="1800" b="1">
              <a:solidFill>
                <a:schemeClr val="bg1"/>
              </a:solidFill>
            </a:endParaRPr>
          </a:p>
          <a:p>
            <a:pPr algn="l"/>
            <a:r>
              <a:rPr lang="en-US" sz="1800">
                <a:solidFill>
                  <a:schemeClr val="bg1"/>
                </a:solidFill>
              </a:rPr>
              <a:t>   Transport and hotel modules can reference destination_id to associate accommodation and travel routes with a specific tourism site.</a:t>
            </a:r>
            <a:endParaRPr lang="en-US" sz="1800">
              <a:solidFill>
                <a:schemeClr val="bg1"/>
              </a:solidFill>
            </a:endParaRPr>
          </a:p>
          <a:p>
            <a:pPr algn="l"/>
            <a:endParaRPr lang="en-US" sz="1800">
              <a:solidFill>
                <a:schemeClr val="bg1"/>
              </a:solidFill>
            </a:endParaRPr>
          </a:p>
          <a:p>
            <a:pPr algn="l"/>
            <a:r>
              <a:rPr lang="en-US" sz="1800">
                <a:solidFill>
                  <a:schemeClr val="bg1"/>
                </a:solidFill>
              </a:rPr>
              <a:t>This modular architecture ensures data integrity across the broader Tourism Management Platform while allowing each group member's module to operate independently during development.</a:t>
            </a:r>
            <a:endParaRPr lang="en-US" sz="180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12115" y="368300"/>
            <a:ext cx="11531600" cy="5800000"/>
          </a:xfrm>
          <a:prstGeom prst="rect">
            <a:avLst/>
          </a:prstGeom>
          <a:noFill/>
        </p:spPr>
        <p:txBody>
          <a:bodyPr wrap="square" rtlCol="0">
            <a:spAutoFit/>
          </a:bodyPr>
          <a:p>
            <a:pPr algn="l"/>
            <a:r>
              <a:rPr lang="en-US" sz="2600" b="1">
                <a:solidFill>
                  <a:schemeClr val="bg1"/>
                </a:solidFill>
              </a:rPr>
              <a:t>Bibliography</a:t>
            </a:r>
            <a:endParaRPr lang="en-US" sz="2600" b="1">
              <a:solidFill>
                <a:schemeClr val="bg1"/>
              </a:solidFill>
            </a:endParaRPr>
          </a:p>
          <a:p>
            <a:pPr algn="l"/>
            <a:endParaRPr lang="en-US" sz="1800">
              <a:solidFill>
                <a:schemeClr val="bg1"/>
              </a:solidFill>
            </a:endParaRPr>
          </a:p>
          <a:p>
            <a:pPr algn="l"/>
            <a:r>
              <a:rPr lang="en-US" sz="1800">
                <a:solidFill>
                  <a:schemeClr val="bg1"/>
                </a:solidFill>
              </a:rPr>
              <a:t>1. Connolly, T. &amp; Begg, C. (2015). Database Systems: A Practical Approach to Design, Implementation and Management (6th ed.). Pearson Education.</a:t>
            </a:r>
            <a:endParaRPr lang="en-US" sz="1800">
              <a:solidFill>
                <a:schemeClr val="bg1"/>
              </a:solidFill>
            </a:endParaRPr>
          </a:p>
          <a:p>
            <a:pPr algn="l"/>
            <a:endParaRPr lang="en-US" sz="1800">
              <a:solidFill>
                <a:schemeClr val="bg1"/>
              </a:solidFill>
            </a:endParaRPr>
          </a:p>
          <a:p>
            <a:pPr algn="l"/>
            <a:r>
              <a:rPr lang="en-US" sz="1800">
                <a:solidFill>
                  <a:schemeClr val="bg1"/>
                </a:solidFill>
              </a:rPr>
              <a:t>2. Ramakrishnan, R. &amp; Gehrke, J. (2003). Database Management Systems (3rd ed.). McGraw-Hill.</a:t>
            </a:r>
            <a:endParaRPr lang="en-US" sz="1800">
              <a:solidFill>
                <a:schemeClr val="bg1"/>
              </a:solidFill>
            </a:endParaRPr>
          </a:p>
          <a:p>
            <a:pPr algn="l"/>
            <a:endParaRPr lang="en-US" sz="1800">
              <a:solidFill>
                <a:schemeClr val="bg1"/>
              </a:solidFill>
            </a:endParaRPr>
          </a:p>
          <a:p>
            <a:pPr algn="l"/>
            <a:r>
              <a:rPr lang="en-US" sz="1800">
                <a:solidFill>
                  <a:schemeClr val="bg1"/>
                </a:solidFill>
              </a:rPr>
              <a:t>3. Oracle Corporation (2023). MySQL 8.0 Reference Manual. https://dev.mysql.com/doc/refman/8.0/en/</a:t>
            </a:r>
            <a:endParaRPr lang="en-US" sz="1800">
              <a:solidFill>
                <a:schemeClr val="bg1"/>
              </a:solidFill>
            </a:endParaRPr>
          </a:p>
          <a:p>
            <a:pPr algn="l"/>
            <a:endParaRPr lang="en-US" sz="1800">
              <a:solidFill>
                <a:schemeClr val="bg1"/>
              </a:solidFill>
            </a:endParaRPr>
          </a:p>
          <a:p>
            <a:pPr algn="l"/>
            <a:r>
              <a:rPr lang="en-US" sz="1800">
                <a:solidFill>
                  <a:schemeClr val="bg1"/>
                </a:solidFill>
              </a:rPr>
              <a:t>4. Uganda Wildlife Authority (2024). Uganda National Parks &amp; Tourism Statistics. https://www.ugandawildlife.org</a:t>
            </a:r>
            <a:endParaRPr lang="en-US" sz="1800">
              <a:solidFill>
                <a:schemeClr val="bg1"/>
              </a:solidFill>
            </a:endParaRPr>
          </a:p>
          <a:p>
            <a:pPr algn="l"/>
            <a:endParaRPr lang="en-US" sz="1800">
              <a:solidFill>
                <a:schemeClr val="bg1"/>
              </a:solidFill>
            </a:endParaRPr>
          </a:p>
          <a:p>
            <a:pPr algn="l"/>
            <a:r>
              <a:rPr lang="en-US" sz="1800">
                <a:solidFill>
                  <a:schemeClr val="bg1"/>
                </a:solidFill>
              </a:rPr>
              <a:t>5. Uganda Tourism Board (2023). Tourism Sector Annual Performance Report 2022/2023. UTB, Kampala.</a:t>
            </a:r>
            <a:endParaRPr lang="en-US" sz="1800">
              <a:solidFill>
                <a:schemeClr val="bg1"/>
              </a:solidFill>
            </a:endParaRPr>
          </a:p>
          <a:p>
            <a:pPr algn="l"/>
            <a:endParaRPr lang="en-US" sz="1800">
              <a:solidFill>
                <a:schemeClr val="bg1"/>
              </a:solidFill>
            </a:endParaRPr>
          </a:p>
          <a:p>
            <a:pPr algn="l"/>
            <a:r>
              <a:rPr lang="en-US" sz="1800">
                <a:solidFill>
                  <a:schemeClr val="bg1"/>
                </a:solidFill>
              </a:rPr>
              <a:t>6. Date, C.J. (2004). An Introduction to Database Systems (8th ed.). Addison-Wesley.</a:t>
            </a:r>
            <a:endParaRPr lang="en-US" sz="1800">
              <a:solidFill>
                <a:schemeClr val="bg1"/>
              </a:solidFill>
            </a:endParaRPr>
          </a:p>
          <a:p>
            <a:pPr algn="l"/>
            <a:endParaRPr lang="en-US" sz="1800">
              <a:solidFill>
                <a:schemeClr val="bg1"/>
              </a:solidFill>
            </a:endParaRPr>
          </a:p>
          <a:p>
            <a:pPr algn="l"/>
            <a:r>
              <a:rPr lang="en-US" sz="1800">
                <a:solidFill>
                  <a:schemeClr val="bg1"/>
                </a:solidFill>
              </a:rPr>
              <a:t>7. Silberschatz, A., Korth, H.F. &amp; Sudarshan, S. (2020). Database System Concepts (7th ed.). McGraw-Hill.</a:t>
            </a:r>
            <a:endParaRPr lang="en-US" sz="1800">
              <a:solidFill>
                <a:schemeClr val="bg1"/>
              </a:solidFill>
            </a:endParaRPr>
          </a:p>
        </p:txBody>
      </p:sp>
    </p:spTree>
  </p:cSld>
  <p:clrMapOvr>
    <a:masterClrMapping/>
  </p:clrMapOvr>
</p:sld>
</file>

<file path=ppt/theme/theme1.xml><?xml version="1.0" encoding="utf-8"?>
<a:theme xmlns:a="http://schemas.openxmlformats.org/drawingml/2006/main" name="1_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9259</Words>
  <Application>WPS Presentation</Application>
  <PresentationFormat>宽屏</PresentationFormat>
  <Paragraphs>219</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Georgia</vt:lpstr>
      <vt:lpstr>Courier New</vt:lpstr>
      <vt:lpstr>Microsoft YaHei</vt:lpstr>
      <vt:lpstr>Droid Sans Fallback</vt:lpstr>
      <vt:lpstr>Arial Unicode MS</vt:lpstr>
      <vt:lpstr>SimSun</vt:lpstr>
      <vt:lpstr>1_Default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hilary</cp:lastModifiedBy>
  <cp:revision>14</cp:revision>
  <dcterms:created xsi:type="dcterms:W3CDTF">2026-05-07T02:13:13Z</dcterms:created>
  <dcterms:modified xsi:type="dcterms:W3CDTF">2026-05-07T02:13:13Z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